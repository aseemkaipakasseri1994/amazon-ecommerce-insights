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FE4"/>
    <a:srgbClr val="0B2033"/>
    <a:srgbClr val="DED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0E8E-BFDB-47E1-8D67-0A203BAF5FFB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7E9DD-D76D-4C6F-9460-BE154F3453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55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528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65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59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8B31-3FF9-A9E6-C80F-99E797CF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1C108-3C1E-5E0A-9ED3-CADEC95D3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D144E-7C31-2AAC-AF11-7947530D6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C0D5-2D70-E71B-4CCA-DC3C23EBD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89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D021-A5AF-7EC7-EE00-C7B5DF91B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48C8A-7982-3210-B779-23357753C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5118D-839F-B58E-DF98-9E562BB8B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6BBA2-F863-3359-0E80-D45815FE6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508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02564-501B-D798-49E2-6F644240D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7E2E5-32FF-2CCE-5EA1-953C9CD31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45316-56DF-B52A-F0F2-70F383183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BAEFC-2E9A-DB31-173D-5E0150062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344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83D2-D4FB-84BB-486A-89067EBF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BCD3E-831B-9E2B-CD55-BFEDEF08E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1D977-694A-B5B2-4F6C-CF246C59D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13387-CCFB-6B8C-7F1C-E302EAF6B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069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225CD-2158-2C2F-6835-6E745045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02E1D-DFFE-E53A-9463-7BEA369CA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D92E0-337A-CF6C-2C71-F50D62CF3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A8FAD-322B-A270-40F4-A6DF96579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91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C65CB-9FD5-7982-1697-A0D484E2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13C66-18F6-81BA-20FA-AF526D2F4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6247F-D2DF-CA9A-C0BF-9F68A0816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CFD3-A40A-B6B7-CCB7-208A3AA27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554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8460-3CB9-3B3B-443B-EB4CB43F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CC4D5-D4E5-3A31-2494-FEA40D47E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D94C6-47FE-4710-632B-7D64AD5F4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BEA21-6F66-45E1-32D1-ED2653393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7E9DD-D76D-4C6F-9460-BE154F3453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544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B7229-E4B0-7812-21B3-0B3FCC8D1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D04E3-7E76-1036-6881-7D464E8C4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9711B-4F9A-F8C6-B5F7-D9159CAA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C2C14-4CBD-4F46-D79A-5D9A8FA2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5DF35-9EFF-66DD-DE36-072DCD53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56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AB32-4D70-AC76-3F5F-7B709575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3FAFF-0446-ABA6-F52F-ED4E927B1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B33C4-F41C-9F96-BC50-655741FA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8220-3D92-8357-2048-EA382426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EA5D7-B321-FC0D-B040-D5CBA978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77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3D31-F4E4-7C8B-E96A-8804B217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7D5E8-4006-E77C-6E16-428CE9879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71CAA-51AD-B0D8-92DF-6AA5694E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5C398-6F02-2CDE-EA3D-B70E8E98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A145A-EDA1-0CAD-CC6A-30117A0F1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65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862F-9E3D-9EAC-9B16-2258B846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4A3A-41D2-8571-4FD6-AEB11678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ED3DD-AADF-E0DF-6933-F80F974B1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7894D-8EB1-29F1-F499-4288CA2E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04617-EEDF-F64C-DB23-E907007F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46382-29E3-F5B6-28C3-F33DD679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1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C693-CA4C-6F28-689B-173BE93C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5E4DA-082B-6DB1-B26D-84EE65D00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F5E5E-414F-98F2-FBD5-50626D0BD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7D68E-BC9F-B166-47BB-48D3405DC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588EA-6327-DF4E-0131-F6A9C37AB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B21D0-E47E-9C33-F4B8-C077618C4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40DA75-58C6-C969-94E2-E89BCDDB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6ABD2-0207-3954-2DBA-85707A23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4400-A12A-0E40-DCE5-82435EFF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31BAB-BD40-BB33-F600-661E6883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8BF9D-23E0-B82B-3B58-AA6E95C7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5C77C-C368-E306-EBD1-CA3F80E6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6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8ED79-AE08-7793-55FE-D78BC9A7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515A2-A7DB-DA03-6B7E-7ED3AE52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C166C-91CF-E445-B79E-6CF21E92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50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2E36-5A59-75C9-4FD6-529C43E3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C02F-A556-D8F9-FC22-3B71B8A2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AF10B-858C-130D-EB08-0E6A509F3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9B3EF-FB97-E3B0-EA53-AD8F9A1D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84FF0-14EF-7B67-8174-0C668DB8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37EC5-0C3F-F5B5-F626-808325F7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641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EC0E-24EF-4702-CB3B-58A61E2B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1F521-55EB-9306-B71F-7BCE345D2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8E63B-51C3-4788-372E-C98C13718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C4929-6D56-E699-F07A-3C93F9AC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C4BFE-00AC-6F57-699E-522140A4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04697-DD7E-AAEB-73DD-ECF43F9C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61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AE57-DFFA-26C2-6CB6-DEEAE40E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A150C-0640-7430-F43F-FAE793C4B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C6F27-A600-1FAC-C85F-B509F94C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39B27-8611-51BC-9F89-C2DC467A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2C94A-0C06-1461-EB6E-23D62485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13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376327-2D31-B306-6EFA-8EA172798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3CFF6-B3DA-A96F-DECD-94205D4D6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6B7C-A932-2952-ED4E-E8819D27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E956-5EC0-F18B-44AD-389F1E4C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DF57-DD8A-D206-EC40-8CA7D767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17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F3408A-4167-1834-D34F-5E9725A2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FDEFC-705E-AB82-2DF3-F81AEF254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B3654-EDC6-79D5-0CDC-D345BAE1E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CFCA5-DB4F-47B2-A5E2-16458A11E1A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D132A-BFD9-B303-AD53-2AA84401D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E0D80-16E1-8139-26B9-9B856EDD9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BA74A-93CF-4DF6-A4FF-10450DEFE0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47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8CB583-9C3A-747A-C55A-AFF31F20D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044352-FCAF-3E24-BD47-70E84E9772CD}"/>
              </a:ext>
            </a:extLst>
          </p:cNvPr>
          <p:cNvSpPr txBox="1"/>
          <p:nvPr/>
        </p:nvSpPr>
        <p:spPr>
          <a:xfrm>
            <a:off x="2945581" y="1727528"/>
            <a:ext cx="848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Product Analytics: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D559D-EC45-C342-A656-259D786A7C5F}"/>
              </a:ext>
            </a:extLst>
          </p:cNvPr>
          <p:cNvSpPr txBox="1"/>
          <p:nvPr/>
        </p:nvSpPr>
        <p:spPr>
          <a:xfrm>
            <a:off x="6563852" y="3878221"/>
            <a:ext cx="4782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E0DFE4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DONE BY ASEEM KAIPAKASSERI</a:t>
            </a:r>
          </a:p>
        </p:txBody>
      </p:sp>
    </p:spTree>
    <p:extLst>
      <p:ext uri="{BB962C8B-B14F-4D97-AF65-F5344CB8AC3E}">
        <p14:creationId xmlns:p14="http://schemas.microsoft.com/office/powerpoint/2010/main" val="3882746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FE78F6-12DA-411F-B4F7-3620C73698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AB81CF-501D-7573-830C-3660E63ACE98}"/>
              </a:ext>
            </a:extLst>
          </p:cNvPr>
          <p:cNvSpPr txBox="1"/>
          <p:nvPr/>
        </p:nvSpPr>
        <p:spPr>
          <a:xfrm>
            <a:off x="475636" y="915302"/>
            <a:ext cx="848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PROJECT OBJECTIVE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F45C5-1685-D37D-8DAE-24549088D335}"/>
              </a:ext>
            </a:extLst>
          </p:cNvPr>
          <p:cNvSpPr txBox="1"/>
          <p:nvPr/>
        </p:nvSpPr>
        <p:spPr>
          <a:xfrm>
            <a:off x="475635" y="1917289"/>
            <a:ext cx="111362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0DFE4"/>
                </a:solidFill>
              </a:rPr>
              <a:t>Objective:</a:t>
            </a:r>
            <a:r>
              <a:rPr lang="en-GB" dirty="0">
                <a:solidFill>
                  <a:srgbClr val="E0DFE4"/>
                </a:solidFill>
              </a:rPr>
              <a:t> Analyse Amazon India's catalogue to evaluate pricing, discounts, customer sentiment, and category performance.</a:t>
            </a:r>
          </a:p>
          <a:p>
            <a:endParaRPr lang="en-GB" dirty="0">
              <a:solidFill>
                <a:srgbClr val="E0DFE4"/>
              </a:solidFill>
            </a:endParaRPr>
          </a:p>
          <a:p>
            <a:r>
              <a:rPr lang="en-GB" b="1" dirty="0">
                <a:solidFill>
                  <a:srgbClr val="E0DFE4"/>
                </a:solidFill>
              </a:rPr>
              <a:t>Value Delivered:</a:t>
            </a:r>
            <a:endParaRPr lang="en-GB" dirty="0">
              <a:solidFill>
                <a:srgbClr val="E0DFE4"/>
              </a:solidFill>
            </a:endParaRPr>
          </a:p>
          <a:p>
            <a:r>
              <a:rPr lang="en-GB" b="1" dirty="0">
                <a:solidFill>
                  <a:srgbClr val="E0DFE4"/>
                </a:solidFill>
              </a:rPr>
              <a:t>Data-Driven Insights:</a:t>
            </a:r>
            <a:r>
              <a:rPr lang="en-GB" dirty="0">
                <a:solidFill>
                  <a:srgbClr val="E0DFE4"/>
                </a:solidFill>
              </a:rPr>
              <a:t> Identifies categories with the best value, highest satisfaction, and strongest engagement.</a:t>
            </a:r>
          </a:p>
          <a:p>
            <a:endParaRPr lang="en-GB" b="1" dirty="0">
              <a:solidFill>
                <a:srgbClr val="E0DFE4"/>
              </a:solidFill>
            </a:endParaRPr>
          </a:p>
          <a:p>
            <a:r>
              <a:rPr lang="en-GB" b="1" dirty="0">
                <a:solidFill>
                  <a:srgbClr val="E0DFE4"/>
                </a:solidFill>
              </a:rPr>
              <a:t>Strategic Empowerment:</a:t>
            </a:r>
            <a:r>
              <a:rPr lang="en-GB" dirty="0">
                <a:solidFill>
                  <a:srgbClr val="E0DFE4"/>
                </a:solidFill>
              </a:rPr>
              <a:t> Helps stakeholders optimize pricing strategies and focus inventory effectively through an interactive dashboard.</a:t>
            </a:r>
          </a:p>
          <a:p>
            <a:endParaRPr lang="en-GB" dirty="0">
              <a:solidFill>
                <a:srgbClr val="E0DF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30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0278F-D6D4-B4EB-650B-AF794491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FB1DE3-A929-54CA-582D-31F4E7A415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C6B4E5-DF03-1152-4132-66C9CC76E850}"/>
              </a:ext>
            </a:extLst>
          </p:cNvPr>
          <p:cNvSpPr txBox="1"/>
          <p:nvPr/>
        </p:nvSpPr>
        <p:spPr>
          <a:xfrm>
            <a:off x="475636" y="915302"/>
            <a:ext cx="848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DATASET OVERVIEW — 16 ORIGINAL 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EA977-2659-7301-A32A-6F2199892DB3}"/>
              </a:ext>
            </a:extLst>
          </p:cNvPr>
          <p:cNvSpPr txBox="1"/>
          <p:nvPr/>
        </p:nvSpPr>
        <p:spPr>
          <a:xfrm>
            <a:off x="475636" y="2757212"/>
            <a:ext cx="27001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0DFE4"/>
                </a:solidFill>
              </a:rPr>
              <a:t>Product &amp; </a:t>
            </a:r>
            <a:r>
              <a:rPr lang="en-GB" b="1" dirty="0" err="1">
                <a:solidFill>
                  <a:srgbClr val="E0DFE4"/>
                </a:solidFill>
              </a:rPr>
              <a:t>Catalog</a:t>
            </a:r>
            <a:r>
              <a:rPr lang="en-GB" b="1" dirty="0">
                <a:solidFill>
                  <a:srgbClr val="E0DFE4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Product_id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Product_name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About_product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Image_link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Product_link</a:t>
            </a:r>
            <a:endParaRPr lang="en-GB" dirty="0">
              <a:solidFill>
                <a:srgbClr val="E0DFE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18A05-7A31-0EDC-A2DE-186138FCB0B2}"/>
              </a:ext>
            </a:extLst>
          </p:cNvPr>
          <p:cNvSpPr txBox="1"/>
          <p:nvPr/>
        </p:nvSpPr>
        <p:spPr>
          <a:xfrm>
            <a:off x="3264309" y="2757212"/>
            <a:ext cx="2700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0DFE4"/>
                </a:solidFill>
              </a:rPr>
              <a:t>Pricing &amp; Discount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Discounted_price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Actual_price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Discount_percentage</a:t>
            </a:r>
            <a:endParaRPr lang="en-GB" dirty="0">
              <a:solidFill>
                <a:srgbClr val="E0DFE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615C2-FF8E-2BD6-A11A-5D82894D55FA}"/>
              </a:ext>
            </a:extLst>
          </p:cNvPr>
          <p:cNvSpPr txBox="1"/>
          <p:nvPr/>
        </p:nvSpPr>
        <p:spPr>
          <a:xfrm>
            <a:off x="6333818" y="2674714"/>
            <a:ext cx="27001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0DFE4"/>
                </a:solidFill>
              </a:rPr>
              <a:t>Ratings &amp;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Rating_count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Review_id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Review_title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Review_content</a:t>
            </a:r>
            <a:endParaRPr lang="en-GB" dirty="0">
              <a:solidFill>
                <a:srgbClr val="E0DFE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61AE0-F3B0-4114-E0D8-E5CC8E25D56A}"/>
              </a:ext>
            </a:extLst>
          </p:cNvPr>
          <p:cNvSpPr txBox="1"/>
          <p:nvPr/>
        </p:nvSpPr>
        <p:spPr>
          <a:xfrm>
            <a:off x="8959236" y="2675612"/>
            <a:ext cx="2700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E0DFE4"/>
                </a:solidFill>
              </a:rPr>
              <a:t>User Identity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User_id</a:t>
            </a:r>
            <a:endParaRPr lang="en-GB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E0DFE4"/>
                </a:solidFill>
              </a:rPr>
              <a:t>User_name</a:t>
            </a:r>
            <a:endParaRPr lang="en-GB" dirty="0">
              <a:solidFill>
                <a:srgbClr val="E0DF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98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3521F-15A6-2534-AE83-A478CBCB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A4154-9D7C-B732-0B0F-EBC9D77C81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4425E6-3B3E-25CD-9E43-C75452E50A0E}"/>
              </a:ext>
            </a:extLst>
          </p:cNvPr>
          <p:cNvSpPr txBox="1"/>
          <p:nvPr/>
        </p:nvSpPr>
        <p:spPr>
          <a:xfrm>
            <a:off x="699933" y="1190606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EXCEL PRE-PROCESSING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92346-0F80-96FC-0183-8B869FFB7B9A}"/>
              </a:ext>
            </a:extLst>
          </p:cNvPr>
          <p:cNvSpPr txBox="1"/>
          <p:nvPr/>
        </p:nvSpPr>
        <p:spPr>
          <a:xfrm>
            <a:off x="414797" y="2030532"/>
            <a:ext cx="51914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Remove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Handle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Standardize price &amp; percentage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Split category into hierarchy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Create Pivot Tables for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Build pivot table</a:t>
            </a:r>
            <a:endParaRPr lang="en-GB" sz="2000" dirty="0">
              <a:solidFill>
                <a:srgbClr val="E0DF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47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0C6BD-5ADE-42E9-CBC7-5A44F5D2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98F2E-38EB-5434-3187-4895DD3DEC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0FB536-0A96-E0A6-8853-80FCF6CD7A21}"/>
              </a:ext>
            </a:extLst>
          </p:cNvPr>
          <p:cNvSpPr txBox="1"/>
          <p:nvPr/>
        </p:nvSpPr>
        <p:spPr>
          <a:xfrm>
            <a:off x="699933" y="1190606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ADDED CALCULATED 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C9C4A-C74A-B1A9-C371-A529F6703935}"/>
              </a:ext>
            </a:extLst>
          </p:cNvPr>
          <p:cNvSpPr txBox="1"/>
          <p:nvPr/>
        </p:nvSpPr>
        <p:spPr>
          <a:xfrm>
            <a:off x="414797" y="2030532"/>
            <a:ext cx="112167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E0DFE4"/>
                </a:solidFill>
              </a:rPr>
              <a:t>Savings_amount</a:t>
            </a:r>
            <a:r>
              <a:rPr lang="en-GB" sz="1600" b="1" dirty="0">
                <a:solidFill>
                  <a:srgbClr val="E0DFE4"/>
                </a:solidFill>
              </a:rPr>
              <a:t>  </a:t>
            </a:r>
            <a:r>
              <a:rPr lang="en-GB" sz="1600" b="1" dirty="0" err="1">
                <a:solidFill>
                  <a:srgbClr val="E0DFE4"/>
                </a:solidFill>
              </a:rPr>
              <a:t>Discount_tier</a:t>
            </a:r>
            <a:endParaRPr lang="en-GB" sz="1600" b="1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E0DFE4"/>
                </a:solidFill>
              </a:rPr>
              <a:t>Rating_band</a:t>
            </a:r>
            <a:endParaRPr lang="en-GB" sz="1600" b="1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E0DFE4"/>
                </a:solidFill>
              </a:rPr>
              <a:t>Price_segment</a:t>
            </a:r>
            <a:r>
              <a:rPr lang="en-GB" sz="1600" b="1" dirty="0">
                <a:solidFill>
                  <a:srgbClr val="E0DFE4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E0DFE4"/>
                </a:solidFill>
              </a:rPr>
              <a:t>Popularity_score</a:t>
            </a:r>
            <a:r>
              <a:rPr lang="en-GB" sz="1600" b="1" dirty="0">
                <a:solidFill>
                  <a:srgbClr val="E0DFE4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E0DFE4"/>
                </a:solidFill>
              </a:rPr>
              <a:t>Value_score</a:t>
            </a:r>
            <a:endParaRPr lang="en-GB" sz="1600" dirty="0">
              <a:solidFill>
                <a:srgbClr val="E0DFE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E0DFE4"/>
                </a:solidFill>
              </a:rPr>
              <a:t>Review_count</a:t>
            </a:r>
            <a:endParaRPr lang="en-GB" sz="1600" dirty="0">
              <a:solidFill>
                <a:srgbClr val="E0DF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986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1526A-F5A3-62F2-D989-AE4BFD2A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32DDAE-8F6F-66D7-D54B-2FF4ADB721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AC2B0-AE80-6836-498A-FE7DD449C373}"/>
              </a:ext>
            </a:extLst>
          </p:cNvPr>
          <p:cNvSpPr txBox="1"/>
          <p:nvPr/>
        </p:nvSpPr>
        <p:spPr>
          <a:xfrm>
            <a:off x="699933" y="1190606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DAX MEASURES FOR POWER BI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7F00F-BADC-B72D-6A17-702FDF6A8A6D}"/>
              </a:ext>
            </a:extLst>
          </p:cNvPr>
          <p:cNvSpPr txBox="1"/>
          <p:nvPr/>
        </p:nvSpPr>
        <p:spPr>
          <a:xfrm>
            <a:off x="414798" y="2030532"/>
            <a:ext cx="111479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Rating=AVERAGE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Total Products=DISTINCTCOUNT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Discount %=AVERAGE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Total Reviews=SUM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Savings (₹)=AVERAGE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High Discount Products=CALCULATE(COUNTROWS(amazon), amazon[</a:t>
            </a:r>
            <a:r>
              <a:rPr lang="en-GB" sz="2000" b="1" dirty="0" err="1">
                <a:solidFill>
                  <a:srgbClr val="E0DFE4"/>
                </a:solidFill>
              </a:rPr>
              <a:t>discount_percentage</a:t>
            </a:r>
            <a:r>
              <a:rPr lang="en-GB" sz="2000" b="1" dirty="0">
                <a:solidFill>
                  <a:srgbClr val="E0DFE4"/>
                </a:solidFill>
              </a:rPr>
              <a:t>] &gt;= 70)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Top Rated Products=CALCULATE(COUNTROWS(amazon), amazon[rating] &gt;= 4.5)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Popularity Score=AVERAGE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Max Savings Product=MAXX</a:t>
            </a:r>
            <a:endParaRPr lang="en-GB" sz="2000" dirty="0">
              <a:solidFill>
                <a:srgbClr val="E0DF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96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077FE-712C-E8A3-62D6-306988AF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344CF-827D-4526-C7F1-A1596DAC98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E933EA-56FC-0A89-1FD7-FCE5EC3D50B2}"/>
              </a:ext>
            </a:extLst>
          </p:cNvPr>
          <p:cNvSpPr txBox="1"/>
          <p:nvPr/>
        </p:nvSpPr>
        <p:spPr>
          <a:xfrm>
            <a:off x="699933" y="1190606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DAX MEASURES FOR POWER BI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C9E06-9ECB-7942-3E93-082C06F69309}"/>
              </a:ext>
            </a:extLst>
          </p:cNvPr>
          <p:cNvSpPr txBox="1"/>
          <p:nvPr/>
        </p:nvSpPr>
        <p:spPr>
          <a:xfrm>
            <a:off x="414798" y="2030532"/>
            <a:ext cx="111479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Rating=AVERAGE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Total Products=DISTINCTCOUNT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Discount %=AVERAGE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Total Reviews=SUM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Savings (₹)=AVERAGE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High Discount Products=CALCULATE(COUNTROWS(amazon), amazon[</a:t>
            </a:r>
            <a:r>
              <a:rPr lang="en-GB" sz="2000" b="1" dirty="0" err="1">
                <a:solidFill>
                  <a:srgbClr val="E0DFE4"/>
                </a:solidFill>
              </a:rPr>
              <a:t>discount_percentage</a:t>
            </a:r>
            <a:r>
              <a:rPr lang="en-GB" sz="2000" b="1" dirty="0">
                <a:solidFill>
                  <a:srgbClr val="E0DFE4"/>
                </a:solidFill>
              </a:rPr>
              <a:t>] &gt;= 70)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Top Rated Products=CALCULATE(COUNTROWS(amazon), amazon[rating] &gt;= 4.5)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 err="1">
                <a:solidFill>
                  <a:srgbClr val="E0DFE4"/>
                </a:solidFill>
              </a:rPr>
              <a:t>Avg</a:t>
            </a:r>
            <a:r>
              <a:rPr lang="en-GB" sz="2000" b="1" dirty="0">
                <a:solidFill>
                  <a:srgbClr val="E0DFE4"/>
                </a:solidFill>
              </a:rPr>
              <a:t> Popularity Score=AVERAGE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E0DFE4"/>
                </a:solidFill>
              </a:rPr>
              <a:t>Max Savings Product=MAXX</a:t>
            </a:r>
            <a:endParaRPr lang="en-GB" sz="2000" dirty="0">
              <a:solidFill>
                <a:srgbClr val="E0DF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6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4D867-2EE0-C479-1928-0CE8B9492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1A9457-C344-57DA-4DBA-CA971B7949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38CCA3-AE23-D402-AE68-7C9E43B794AC}"/>
              </a:ext>
            </a:extLst>
          </p:cNvPr>
          <p:cNvSpPr txBox="1"/>
          <p:nvPr/>
        </p:nvSpPr>
        <p:spPr>
          <a:xfrm>
            <a:off x="640939" y="128722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Page 1- Executive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1E548-F7F4-73FE-4A27-0E247D83CDB8}"/>
              </a:ext>
            </a:extLst>
          </p:cNvPr>
          <p:cNvSpPr txBox="1"/>
          <p:nvPr/>
        </p:nvSpPr>
        <p:spPr>
          <a:xfrm>
            <a:off x="188659" y="898163"/>
            <a:ext cx="431451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Cards display a single aggregated value each. Place in a 4-column row at the top of the page. These respond to all slicers.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The donut shows market concentration clearly.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Stacked bar chart shows which products have the widest customer engagement regardless of rating score.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Clustered Bar chart shows whether Amazon India's catalogue skews toward affordable or premium products.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Guage gives us a quick visual health check.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FAFF92-E57B-F5ED-ADFA-FEBEE6B6C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304" y="1508665"/>
            <a:ext cx="7136259" cy="399739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CD0A2F7-3337-A68A-4957-F001D88B659E}"/>
              </a:ext>
            </a:extLst>
          </p:cNvPr>
          <p:cNvCxnSpPr>
            <a:cxnSpLocks/>
          </p:cNvCxnSpPr>
          <p:nvPr/>
        </p:nvCxnSpPr>
        <p:spPr>
          <a:xfrm rot="10800000">
            <a:off x="1691151" y="1917292"/>
            <a:ext cx="3303637" cy="914398"/>
          </a:xfrm>
          <a:prstGeom prst="bentConnector3">
            <a:avLst>
              <a:gd name="adj1" fmla="val 125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4E31559F-19F8-2D9F-BD88-245C36AC222D}"/>
              </a:ext>
            </a:extLst>
          </p:cNvPr>
          <p:cNvCxnSpPr/>
          <p:nvPr/>
        </p:nvCxnSpPr>
        <p:spPr>
          <a:xfrm rot="10800000">
            <a:off x="1494504" y="2753033"/>
            <a:ext cx="4896465" cy="255639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A4281DD-3421-0E4A-5323-CD961B589786}"/>
              </a:ext>
            </a:extLst>
          </p:cNvPr>
          <p:cNvCxnSpPr/>
          <p:nvPr/>
        </p:nvCxnSpPr>
        <p:spPr>
          <a:xfrm rot="10800000" flipV="1">
            <a:off x="4503175" y="3429000"/>
            <a:ext cx="4906296" cy="421820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F04BE5F-3B2E-78F7-9BB4-18C74981548B}"/>
              </a:ext>
            </a:extLst>
          </p:cNvPr>
          <p:cNvCxnSpPr/>
          <p:nvPr/>
        </p:nvCxnSpPr>
        <p:spPr>
          <a:xfrm rot="10800000" flipV="1">
            <a:off x="1691151" y="5152102"/>
            <a:ext cx="5142268" cy="88491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2999E2A-E224-7AEF-3CEA-7ECF0C807971}"/>
              </a:ext>
            </a:extLst>
          </p:cNvPr>
          <p:cNvCxnSpPr/>
          <p:nvPr/>
        </p:nvCxnSpPr>
        <p:spPr>
          <a:xfrm rot="10800000" flipV="1">
            <a:off x="1386349" y="5152102"/>
            <a:ext cx="8023123" cy="934066"/>
          </a:xfrm>
          <a:prstGeom prst="bentConnector3">
            <a:avLst>
              <a:gd name="adj1" fmla="val 123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73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9A346-F3C1-026A-CBA3-934E000A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97277-2981-5C7A-4C1A-EFE1E4D548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B28FE-C724-0908-1565-0DBB6E0D2F91}"/>
              </a:ext>
            </a:extLst>
          </p:cNvPr>
          <p:cNvSpPr txBox="1"/>
          <p:nvPr/>
        </p:nvSpPr>
        <p:spPr>
          <a:xfrm>
            <a:off x="316475" y="69728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Page 2- Pricing &amp; Discount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9B6591-A1DB-2BB5-8F0D-0EBB037DF12B}"/>
              </a:ext>
            </a:extLst>
          </p:cNvPr>
          <p:cNvSpPr txBox="1"/>
          <p:nvPr/>
        </p:nvSpPr>
        <p:spPr>
          <a:xfrm>
            <a:off x="237817" y="880156"/>
            <a:ext cx="411787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Stacked bar chart shows which category applies the deepest discounts on average. It is important for pricing strategy review.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Scatter Chart reveals pricing gap per category visually.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Tree map Instantly shows where rupee savings concentrate.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Stacked bar chart shows whether one category over-relies on aggressive discounting vs another. The stack composition reveals discount strategy differences across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Line chart shows the discount distribution shape, whether products cluster around 40–60% or spread evenly. Reveals Amazon's dominant pricing pattern.</a:t>
            </a:r>
          </a:p>
          <a:p>
            <a:pPr algn="just"/>
            <a:endParaRPr lang="en-GB" dirty="0">
              <a:solidFill>
                <a:srgbClr val="E0DFE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60691-3FA4-EACD-FA63-18D639C48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632" y="1457632"/>
            <a:ext cx="7030227" cy="3942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90D7104-1C40-2273-39E7-9B6CB7F73398}"/>
              </a:ext>
            </a:extLst>
          </p:cNvPr>
          <p:cNvCxnSpPr>
            <a:cxnSpLocks/>
          </p:cNvCxnSpPr>
          <p:nvPr/>
        </p:nvCxnSpPr>
        <p:spPr>
          <a:xfrm rot="10800000">
            <a:off x="4355693" y="1101213"/>
            <a:ext cx="2094269" cy="845574"/>
          </a:xfrm>
          <a:prstGeom prst="bentConnector3">
            <a:avLst>
              <a:gd name="adj1" fmla="val 235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4E9BA17-0F47-162D-D57C-1F59EB00DD83}"/>
              </a:ext>
            </a:extLst>
          </p:cNvPr>
          <p:cNvCxnSpPr/>
          <p:nvPr/>
        </p:nvCxnSpPr>
        <p:spPr>
          <a:xfrm rot="10800000">
            <a:off x="2438401" y="2418735"/>
            <a:ext cx="2566219" cy="2054942"/>
          </a:xfrm>
          <a:prstGeom prst="bentConnector3">
            <a:avLst>
              <a:gd name="adj1" fmla="val 19732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7233D2F-31E2-F7CE-BC2C-2F3EFC15CCEC}"/>
              </a:ext>
            </a:extLst>
          </p:cNvPr>
          <p:cNvCxnSpPr/>
          <p:nvPr/>
        </p:nvCxnSpPr>
        <p:spPr>
          <a:xfrm rot="10800000">
            <a:off x="3382298" y="2989007"/>
            <a:ext cx="3864077" cy="619433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D100AC8-B447-7266-2091-F2EA5BEEF967}"/>
              </a:ext>
            </a:extLst>
          </p:cNvPr>
          <p:cNvCxnSpPr/>
          <p:nvPr/>
        </p:nvCxnSpPr>
        <p:spPr>
          <a:xfrm rot="10800000" flipV="1">
            <a:off x="2212258" y="5230760"/>
            <a:ext cx="7629832" cy="806245"/>
          </a:xfrm>
          <a:prstGeom prst="bentConnector3">
            <a:avLst>
              <a:gd name="adj1" fmla="val 129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8CC78C2-7459-6D67-7E67-5E144A85FD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18969" y="3687097"/>
            <a:ext cx="8652387" cy="993058"/>
          </a:xfrm>
          <a:prstGeom prst="bentConnector3">
            <a:avLst>
              <a:gd name="adj1" fmla="val 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598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A4AFA-9C24-B7B1-7C51-4DB9AC82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09B5A0-EF13-1EDA-423C-A1A9FE111D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A289EC-CD83-4175-22C2-418B3019095A}"/>
              </a:ext>
            </a:extLst>
          </p:cNvPr>
          <p:cNvSpPr txBox="1"/>
          <p:nvPr/>
        </p:nvSpPr>
        <p:spPr>
          <a:xfrm>
            <a:off x="307565" y="65386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Page 3- Customer Ratings &amp; Sentiment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160E0-EA1F-1446-26ED-4E32D854A283}"/>
              </a:ext>
            </a:extLst>
          </p:cNvPr>
          <p:cNvSpPr txBox="1"/>
          <p:nvPr/>
        </p:nvSpPr>
        <p:spPr>
          <a:xfrm>
            <a:off x="0" y="766732"/>
            <a:ext cx="458183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Stacked bar chart: Which category earns the highest average customer satisfaction — useful for brand/product quality benchmarking.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Pie Chart: What proportion of the </a:t>
            </a:r>
            <a:r>
              <a:rPr lang="en-GB" sz="2000" dirty="0" err="1">
                <a:solidFill>
                  <a:srgbClr val="E0DFE4"/>
                </a:solidFill>
              </a:rPr>
              <a:t>catalog</a:t>
            </a:r>
            <a:r>
              <a:rPr lang="en-GB" sz="2000" dirty="0">
                <a:solidFill>
                  <a:srgbClr val="E0DFE4"/>
                </a:solidFill>
              </a:rPr>
              <a:t> is "Good or better"? Shows overall </a:t>
            </a:r>
            <a:r>
              <a:rPr lang="en-GB" sz="2000" dirty="0" err="1">
                <a:solidFill>
                  <a:srgbClr val="E0DFE4"/>
                </a:solidFill>
              </a:rPr>
              <a:t>catalog</a:t>
            </a:r>
            <a:r>
              <a:rPr lang="en-GB" sz="2000" dirty="0">
                <a:solidFill>
                  <a:srgbClr val="E0DFE4"/>
                </a:solidFill>
              </a:rPr>
              <a:t> quality distribution at a glance.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Scatter chart: Reveals hidden gems vs mainstream hits.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Clustered bar chart: Answers "are popular products good?"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Funnel Chart: Visually shows the quality pyramid — how many products make it to "Excellent" vs staying in "Good". Different from the donut (C12) which is part-to-whole; funnel shows a quality journey/drop-off.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7AA50A-BB10-AD28-D00F-5A2811880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382" y="1383280"/>
            <a:ext cx="7025371" cy="40914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B0AAA73-2360-0068-6062-81725085951F}"/>
              </a:ext>
            </a:extLst>
          </p:cNvPr>
          <p:cNvCxnSpPr>
            <a:cxnSpLocks/>
          </p:cNvCxnSpPr>
          <p:nvPr/>
        </p:nvCxnSpPr>
        <p:spPr>
          <a:xfrm rot="10800000">
            <a:off x="4463845" y="1897626"/>
            <a:ext cx="2212260" cy="12700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E48E665-733A-873F-7153-85F36B0296C4}"/>
              </a:ext>
            </a:extLst>
          </p:cNvPr>
          <p:cNvCxnSpPr>
            <a:cxnSpLocks/>
          </p:cNvCxnSpPr>
          <p:nvPr/>
        </p:nvCxnSpPr>
        <p:spPr>
          <a:xfrm rot="10800000">
            <a:off x="1445345" y="3136490"/>
            <a:ext cx="3716591" cy="1367018"/>
          </a:xfrm>
          <a:prstGeom prst="bentConnector3">
            <a:avLst>
              <a:gd name="adj1" fmla="val 13227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9E1D459-892C-28A6-1075-47997685835A}"/>
              </a:ext>
            </a:extLst>
          </p:cNvPr>
          <p:cNvCxnSpPr/>
          <p:nvPr/>
        </p:nvCxnSpPr>
        <p:spPr>
          <a:xfrm rot="10800000" flipV="1">
            <a:off x="2615382" y="3618270"/>
            <a:ext cx="4788309" cy="118505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E2E8EC1-57E5-828F-1868-BF39FF225B6B}"/>
              </a:ext>
            </a:extLst>
          </p:cNvPr>
          <p:cNvCxnSpPr/>
          <p:nvPr/>
        </p:nvCxnSpPr>
        <p:spPr>
          <a:xfrm rot="10800000" flipV="1">
            <a:off x="875071" y="3677522"/>
            <a:ext cx="9055510" cy="2771195"/>
          </a:xfrm>
          <a:prstGeom prst="bentConnector3">
            <a:avLst>
              <a:gd name="adj1" fmla="val -271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C8D8A8F-1AFE-6C49-477B-6F904740DE2D}"/>
              </a:ext>
            </a:extLst>
          </p:cNvPr>
          <p:cNvCxnSpPr/>
          <p:nvPr/>
        </p:nvCxnSpPr>
        <p:spPr>
          <a:xfrm rot="10800000" flipV="1">
            <a:off x="3205316" y="4277032"/>
            <a:ext cx="6243484" cy="18124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28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B17F7-16F8-8DED-76A9-B23F6AE2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E6C04-DF19-F0F0-52E2-6EC093BBE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79CB04-398E-0960-F46B-0611D5928825}"/>
              </a:ext>
            </a:extLst>
          </p:cNvPr>
          <p:cNvSpPr txBox="1"/>
          <p:nvPr/>
        </p:nvSpPr>
        <p:spPr>
          <a:xfrm>
            <a:off x="100165" y="0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Page 4- Category Deep Dive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0C7D8-465D-2FA2-03FF-93D2FF842A6D}"/>
              </a:ext>
            </a:extLst>
          </p:cNvPr>
          <p:cNvSpPr txBox="1"/>
          <p:nvPr/>
        </p:nvSpPr>
        <p:spPr>
          <a:xfrm>
            <a:off x="100165" y="689789"/>
            <a:ext cx="375408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Decomposition tree: Drill from broad category all the way to a specific product to find where ratings peak or drop.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Clustered bar chart: Directly visualizes savings opportunity by sub-category.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Waterfall chart: Shows "where the savings money goes.“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Matrix:  Which category-price-tier combinations are densely populated vs sparse. E.g., are there many Premium Electronics but few Premium </a:t>
            </a:r>
            <a:r>
              <a:rPr lang="en-GB" dirty="0" err="1">
                <a:solidFill>
                  <a:srgbClr val="E0DFE4"/>
                </a:solidFill>
              </a:rPr>
              <a:t>Home&amp;Kitchen</a:t>
            </a:r>
            <a:r>
              <a:rPr lang="en-GB" dirty="0">
                <a:solidFill>
                  <a:srgbClr val="E0DFE4"/>
                </a:solidFill>
              </a:rPr>
              <a:t> products?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E0DFE4"/>
                </a:solidFill>
              </a:rPr>
              <a:t>Clustered bar chart: Goes beyond simple ratings, sub-categories with both high ratings AND high review volumes rise to the top. A more reliable ranking than rating alone.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dirty="0">
              <a:solidFill>
                <a:srgbClr val="E0DFE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02485-9564-5F11-8631-A18914818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050" y="1118871"/>
            <a:ext cx="7878145" cy="44363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614D80F-813F-3ADB-5225-8C4CDC547C90}"/>
              </a:ext>
            </a:extLst>
          </p:cNvPr>
          <p:cNvCxnSpPr>
            <a:cxnSpLocks/>
          </p:cNvCxnSpPr>
          <p:nvPr/>
        </p:nvCxnSpPr>
        <p:spPr>
          <a:xfrm rot="10800000">
            <a:off x="2585887" y="1681316"/>
            <a:ext cx="1651817" cy="688258"/>
          </a:xfrm>
          <a:prstGeom prst="bentConnector3">
            <a:avLst>
              <a:gd name="adj1" fmla="val 19643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6FA6C73-B5EA-4492-5070-AD3393C4D7A5}"/>
              </a:ext>
            </a:extLst>
          </p:cNvPr>
          <p:cNvCxnSpPr/>
          <p:nvPr/>
        </p:nvCxnSpPr>
        <p:spPr>
          <a:xfrm rot="10800000" flipV="1">
            <a:off x="1592827" y="2113934"/>
            <a:ext cx="5742039" cy="2625213"/>
          </a:xfrm>
          <a:prstGeom prst="bentConnector3">
            <a:avLst>
              <a:gd name="adj1" fmla="val 1712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6811569-D79F-A3FF-482D-EB2B35F15AB6}"/>
              </a:ext>
            </a:extLst>
          </p:cNvPr>
          <p:cNvCxnSpPr/>
          <p:nvPr/>
        </p:nvCxnSpPr>
        <p:spPr>
          <a:xfrm rot="10800000">
            <a:off x="3097162" y="3067665"/>
            <a:ext cx="6410633" cy="1160206"/>
          </a:xfrm>
          <a:prstGeom prst="bentConnector3">
            <a:avLst>
              <a:gd name="adj1" fmla="val 80061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CD9B8C1-31AD-0977-6749-48956BF02638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67730" y="3608437"/>
            <a:ext cx="8772218" cy="2812028"/>
          </a:xfrm>
          <a:prstGeom prst="bentConnector3">
            <a:avLst>
              <a:gd name="adj1" fmla="val -214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6B6F4CC-8528-890C-E374-09471B06284D}"/>
              </a:ext>
            </a:extLst>
          </p:cNvPr>
          <p:cNvCxnSpPr>
            <a:cxnSpLocks/>
          </p:cNvCxnSpPr>
          <p:nvPr/>
        </p:nvCxnSpPr>
        <p:spPr>
          <a:xfrm rot="10800000">
            <a:off x="1868132" y="2556390"/>
            <a:ext cx="5466735" cy="261537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77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7B923-84CE-C5DA-8D41-CB5231E6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A1D00D-D8B6-6005-B04E-A70FFD3FBD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8F3B93-62EB-30D8-B189-37F72E7F36B4}"/>
              </a:ext>
            </a:extLst>
          </p:cNvPr>
          <p:cNvSpPr txBox="1"/>
          <p:nvPr/>
        </p:nvSpPr>
        <p:spPr>
          <a:xfrm>
            <a:off x="168991" y="0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Page 5,6- Product Performance &amp;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FF8E4-4421-F6DE-EF14-C0CAC0E51A83}"/>
              </a:ext>
            </a:extLst>
          </p:cNvPr>
          <p:cNvSpPr txBox="1"/>
          <p:nvPr/>
        </p:nvSpPr>
        <p:spPr>
          <a:xfrm>
            <a:off x="257483" y="769441"/>
            <a:ext cx="333129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E0DFE4"/>
                </a:solidFill>
              </a:rPr>
              <a:t>Stacked column chart: The true "best products" , not just highest rated OR most reviewed, but the best combination of both.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E0DFE4"/>
                </a:solidFill>
              </a:rPr>
              <a:t>Scatter chart: The key analytical question , if trend line slopes downward, aggressive discounts correlate with poorer products. Flat/upward = discounts are independent of quality.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E0DFE4"/>
                </a:solidFill>
              </a:rPr>
              <a:t>Stacked bar chart: Finds "hidden gem" products. Highly rated but very affordable.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E0DFE4"/>
                </a:solidFill>
              </a:rPr>
              <a:t>Line and Clustered Column </a:t>
            </a:r>
            <a:r>
              <a:rPr lang="en-GB" sz="1600" dirty="0" err="1">
                <a:solidFill>
                  <a:srgbClr val="E0DFE4"/>
                </a:solidFill>
              </a:rPr>
              <a:t>chart:Do</a:t>
            </a:r>
            <a:r>
              <a:rPr lang="en-GB" sz="1600" dirty="0">
                <a:solidFill>
                  <a:srgbClr val="E0DFE4"/>
                </a:solidFill>
              </a:rPr>
              <a:t> Premium products get discounted less but rated higher? Or do Entry-Level products carry both deeper discounts AND lower ratings? A dual-axis answer to a classic pricing question.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E0DFE4"/>
                </a:solidFill>
              </a:rPr>
              <a:t>Table: The most actionable view for product managers.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F8972C-F308-0872-B734-E232B2A8C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059" y="3175819"/>
            <a:ext cx="6132020" cy="3444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6D8843-1799-8B9D-446E-863108E2E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1421" y="866268"/>
            <a:ext cx="5186773" cy="2925770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624CB9C-FB56-B339-9FB0-CD551597755C}"/>
              </a:ext>
            </a:extLst>
          </p:cNvPr>
          <p:cNvCxnSpPr>
            <a:cxnSpLocks/>
          </p:cNvCxnSpPr>
          <p:nvPr/>
        </p:nvCxnSpPr>
        <p:spPr>
          <a:xfrm rot="10800000">
            <a:off x="2979176" y="1635709"/>
            <a:ext cx="867082" cy="12700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D750752-EA58-818A-D596-EF6F3FF394AE}"/>
              </a:ext>
            </a:extLst>
          </p:cNvPr>
          <p:cNvCxnSpPr/>
          <p:nvPr/>
        </p:nvCxnSpPr>
        <p:spPr>
          <a:xfrm rot="10800000">
            <a:off x="2694040" y="3175819"/>
            <a:ext cx="1111045" cy="12700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C0B56E8-DBF5-C5E7-E6D7-01E3FC9A74A9}"/>
              </a:ext>
            </a:extLst>
          </p:cNvPr>
          <p:cNvCxnSpPr/>
          <p:nvPr/>
        </p:nvCxnSpPr>
        <p:spPr>
          <a:xfrm rot="10800000" flipV="1">
            <a:off x="2094272" y="2379405"/>
            <a:ext cx="3755923" cy="1509459"/>
          </a:xfrm>
          <a:prstGeom prst="bentConnector3">
            <a:avLst>
              <a:gd name="adj1" fmla="val 1832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18BB704-846A-F853-E096-63C213C183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71252" y="3737356"/>
            <a:ext cx="4876800" cy="2086897"/>
          </a:xfrm>
          <a:prstGeom prst="bentConnector3">
            <a:avLst>
              <a:gd name="adj1" fmla="val -202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E0D9B4E-C2C9-7DBF-5ACF-003AEA6E12B9}"/>
              </a:ext>
            </a:extLst>
          </p:cNvPr>
          <p:cNvCxnSpPr/>
          <p:nvPr/>
        </p:nvCxnSpPr>
        <p:spPr>
          <a:xfrm rot="10800000">
            <a:off x="2644877" y="6272981"/>
            <a:ext cx="3048000" cy="12700"/>
          </a:xfrm>
          <a:prstGeom prst="bentConnector3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983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4620C-02AD-70ED-B7BB-60C275A3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9096B-FC8A-25D8-4B6D-B6A701E9FF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88C588-BBF9-D628-65A8-7B61C579D2B5}"/>
              </a:ext>
            </a:extLst>
          </p:cNvPr>
          <p:cNvSpPr txBox="1"/>
          <p:nvPr/>
        </p:nvSpPr>
        <p:spPr>
          <a:xfrm>
            <a:off x="414798" y="245825"/>
            <a:ext cx="11362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DEDFE3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FAC59-FAD7-F0C9-BF8F-60B89A39833F}"/>
              </a:ext>
            </a:extLst>
          </p:cNvPr>
          <p:cNvSpPr txBox="1"/>
          <p:nvPr/>
        </p:nvSpPr>
        <p:spPr>
          <a:xfrm>
            <a:off x="316475" y="1015266"/>
            <a:ext cx="1114793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This analysis of 1,351 unique Amazon India products across 9 main categories reveals that Electronics and Computers &amp; Accessories dominate the </a:t>
            </a:r>
            <a:r>
              <a:rPr lang="en-GB" sz="2000" dirty="0" err="1">
                <a:solidFill>
                  <a:srgbClr val="E0DFE4"/>
                </a:solidFill>
              </a:rPr>
              <a:t>catalog</a:t>
            </a:r>
            <a:r>
              <a:rPr lang="en-GB" sz="2000" dirty="0">
                <a:solidFill>
                  <a:srgbClr val="E0DFE4"/>
                </a:solidFill>
              </a:rPr>
              <a:t> with the widest price variation (₹39 to ₹77,990).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Discount strategies are aggressive — averaging above 40% — yet higher discounts do not consistently yield lower customer ratings, suggesting discounts are used as a legitimate marketing tool rather than a quality trade-off.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The </a:t>
            </a:r>
            <a:r>
              <a:rPr lang="en-GB" sz="2000" dirty="0" err="1">
                <a:solidFill>
                  <a:srgbClr val="E0DFE4"/>
                </a:solidFill>
              </a:rPr>
              <a:t>popularity_score</a:t>
            </a:r>
            <a:r>
              <a:rPr lang="en-GB" sz="2000" dirty="0">
                <a:solidFill>
                  <a:srgbClr val="E0DFE4"/>
                </a:solidFill>
              </a:rPr>
              <a:t> analysis surfaces that mid-range Accessories and Home &amp; Kitchen products often outperform premium Electronics in customer engagement relative to price. The highest absolute savings are concentrated in Home </a:t>
            </a:r>
            <a:r>
              <a:rPr lang="en-GB" sz="2000" dirty="0" err="1">
                <a:solidFill>
                  <a:srgbClr val="E0DFE4"/>
                </a:solidFill>
              </a:rPr>
              <a:t>Theater</a:t>
            </a:r>
            <a:r>
              <a:rPr lang="en-GB" sz="2000" dirty="0">
                <a:solidFill>
                  <a:srgbClr val="E0DFE4"/>
                </a:solidFill>
              </a:rPr>
              <a:t> and Large Appliances, while the best value-for-money (rating per ₹100) belongs to affordable Cables, Accessories, and Office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E0DFE4"/>
                </a:solidFill>
              </a:rPr>
              <a:t>Recommendations: focus inventory expansion in mid-range electronics with 4.0+ ratings, investigate the 59 aggressively discounted products for pricing sustainability, and monitor the 47 products with 100,000+ reviews as flagship indicators of market demand.</a:t>
            </a:r>
          </a:p>
        </p:txBody>
      </p:sp>
    </p:spTree>
    <p:extLst>
      <p:ext uri="{BB962C8B-B14F-4D97-AF65-F5344CB8AC3E}">
        <p14:creationId xmlns:p14="http://schemas.microsoft.com/office/powerpoint/2010/main" val="17969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1024</Words>
  <Application>Microsoft Office PowerPoint</Application>
  <PresentationFormat>Widescreen</PresentationFormat>
  <Paragraphs>114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Adobe Gothic Std B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</cp:revision>
  <dcterms:created xsi:type="dcterms:W3CDTF">2026-06-15T11:09:39Z</dcterms:created>
  <dcterms:modified xsi:type="dcterms:W3CDTF">2026-06-17T13:55:17Z</dcterms:modified>
</cp:coreProperties>
</file>